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86" r:id="rId4"/>
    <p:sldId id="287" r:id="rId5"/>
    <p:sldId id="278" r:id="rId6"/>
    <p:sldId id="288" r:id="rId7"/>
    <p:sldId id="291" r:id="rId8"/>
    <p:sldId id="294" r:id="rId9"/>
    <p:sldId id="295" r:id="rId10"/>
    <p:sldId id="297" r:id="rId11"/>
    <p:sldId id="296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8" r:id="rId2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7E9639D4-E3E2-4D34-9284-5A2195B3D0D7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Row>
  </a:tblStyle>
  <a:tblStyle styleId="{F5AB1C69-6EDB-4FF4-983F-18BD219EF32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0F0F0"/>
          </a:solidFill>
        </a:fill>
      </a:tcStyle>
    </a:wholeTbl>
    <a:band1H>
      <a:tcStyle>
        <a:tcBdr/>
        <a:fill>
          <a:solidFill>
            <a:srgbClr val="E1E1E1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1E1E1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A5A5A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21E4AEA4-8DFA-4A89-87EB-49C32662AFE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CECE8"/>
          </a:solidFill>
        </a:fill>
      </a:tcStyle>
    </a:wholeTbl>
    <a:band1H>
      <a:tcStyle>
        <a:tcBdr/>
        <a:fill>
          <a:solidFill>
            <a:srgbClr val="F8D7C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8D7CD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D7D31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D7D31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4660"/>
  </p:normalViewPr>
  <p:slideViewPr>
    <p:cSldViewPr snapToGrid="0">
      <p:cViewPr varScale="1">
        <p:scale>
          <a:sx n="80" d="100"/>
          <a:sy n="80" d="100"/>
        </p:scale>
        <p:origin x="69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2121A-2286-B688-7402-BA99C68451A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33958-1FBC-F0D7-0A50-2F7212FE7AF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64186C-959F-4C15-96FE-D084BCC3772B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1C619-5023-F5F2-3876-6626A045A63A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A7056-27FB-A3D0-242E-290477581D4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1762877-CFB9-4D43-BBB6-D00F0608E074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49546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3F3C8B-DFB1-FF9F-6270-7765511A457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C4A6B-D02C-3A86-DB97-677700E343A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C946CB23-AA0B-49A6-8B24-80D962B834DA}" type="datetime1">
              <a:rPr lang="en-US"/>
              <a:pPr lvl="0"/>
              <a:t>1/9/2026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9B11688-FDC1-D22A-1D28-F710419B8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8731058-B850-6569-AC9D-E60C3574290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0329F-C81E-6492-2E97-D6A3AD14482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E7FEB-CEBC-A303-DE03-E014B4F640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DB7759F7-7482-4A5A-B26E-BCB40AE6F4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70928-58B4-3EB4-B923-B85BD2E17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FE703-F3B0-EAA0-0D22-94580F8B70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5B444-34F7-B0AD-92B4-F055CECE11C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32D273E-D507-4D69-89FE-1509185FA46A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84659-A4F8-2BB6-99B4-3C542A735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F574D-3E96-8E2D-C4B8-78C2ADD448B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582FF-71E3-623E-DEA2-40902F382D3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7DA3A06-1538-40BD-BE8B-C34735A0216E}" type="slidenum"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CDB8E-D1CB-1969-3769-D6032451D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B199D-1A43-15F7-2018-325C538D90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5231C-0E09-7AED-72B7-6852878E7D4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11D74C6-AD57-4FAA-9A3C-FEA44608411F}" type="slidenum"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00E29-B1AF-EDCD-C637-4BE1D4DF2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0F433-3C27-53C5-2350-A69E87ED41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C2AF4-0CA9-91D9-71FA-0724131A241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947A991-0639-43B3-A7FC-1264C57BFF08}" type="slidenum"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84659-A4F8-2BB6-99B4-3C542A735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F574D-3E96-8E2D-C4B8-78C2ADD448B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582FF-71E3-623E-DEA2-40902F382D3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7DA3A06-1538-40BD-BE8B-C34735A0216E}" type="slidenum">
              <a:t>12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0249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B7759F7-7482-4A5A-B26E-BCB40AE6F4C5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7806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1A04-B6E6-5EE5-045A-E83FA1B1E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41920" y="3329787"/>
            <a:ext cx="4941774" cy="3200400"/>
          </a:xfrm>
        </p:spPr>
        <p:txBody>
          <a:bodyPr>
            <a:noAutofit/>
          </a:bodyPr>
          <a:lstStyle>
            <a:lvl1pPr>
              <a:defRPr sz="36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3" name="Graphic 7">
            <a:extLst>
              <a:ext uri="{FF2B5EF4-FFF2-40B4-BE49-F238E27FC236}">
                <a16:creationId xmlns:a16="http://schemas.microsoft.com/office/drawing/2014/main" id="{11BEF838-B343-09D2-868C-F5624F468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>
            <a:fillRect/>
          </a:stretch>
        </p:blipFill>
        <p:spPr>
          <a:xfrm>
            <a:off x="0" y="0"/>
            <a:ext cx="9488308" cy="5054318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1717025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>
            <a:extLst>
              <a:ext uri="{FF2B5EF4-FFF2-40B4-BE49-F238E27FC236}">
                <a16:creationId xmlns:a16="http://schemas.microsoft.com/office/drawing/2014/main" id="{AD00A0D0-8DCA-4F5D-4B22-0BFCFCA9C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>
            <a:fillRect/>
          </a:stretch>
        </p:blipFill>
        <p:spPr>
          <a:xfrm>
            <a:off x="4229099" y="0"/>
            <a:ext cx="7962896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881F1BA-C9BB-BC32-A5AB-B5C7677593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3496" y="1020442"/>
            <a:ext cx="2895603" cy="1325559"/>
          </a:xfrm>
        </p:spPr>
        <p:txBody>
          <a:bodyPr anchor="b"/>
          <a:lstStyle>
            <a:lvl1pPr>
              <a:defRPr sz="28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75B098-8373-9059-49D3-F19CB7C5206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33496" y="2674016"/>
            <a:ext cx="2895603" cy="3269592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>
                <a:solidFill>
                  <a:srgbClr val="FFFFFF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57646-A37F-F6FB-7CC9-4D0C2F53E1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333496" y="6356351"/>
            <a:ext cx="3819229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6C7EA-A15A-C6FB-802F-4A87E74CF93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73346" y="6356351"/>
            <a:ext cx="987552" cy="365129"/>
          </a:xfrm>
        </p:spPr>
        <p:txBody>
          <a:bodyPr/>
          <a:lstStyle>
            <a:lvl1pPr>
              <a:defRPr sz="900"/>
            </a:lvl1pPr>
          </a:lstStyle>
          <a:p>
            <a:pPr lvl="0"/>
            <a:fld id="{5579888E-0021-4933-96D4-4D70F6CA7B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77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1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6051-0B1B-388E-F1D4-BCAD11270C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1346" y="487018"/>
            <a:ext cx="4179566" cy="3377354"/>
          </a:xfrm>
        </p:spPr>
        <p:txBody>
          <a:bodyPr anchor="b">
            <a:noAutofit/>
          </a:bodyPr>
          <a:lstStyle>
            <a:lvl1pPr>
              <a:defRPr sz="36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4CF7B23-9AE8-F94E-8422-982EA1FBC3B4}"/>
              </a:ext>
            </a:extLst>
          </p:cNvPr>
          <p:cNvGrpSpPr/>
          <p:nvPr/>
        </p:nvGrpSpPr>
        <p:grpSpPr>
          <a:xfrm>
            <a:off x="0" y="0"/>
            <a:ext cx="6557820" cy="6858000"/>
            <a:chOff x="0" y="0"/>
            <a:chExt cx="6557820" cy="6858000"/>
          </a:xfrm>
        </p:grpSpPr>
        <p:cxnSp>
          <p:nvCxnSpPr>
            <p:cNvPr id="4" name="Straight Connector 4">
              <a:extLst>
                <a:ext uri="{FF2B5EF4-FFF2-40B4-BE49-F238E27FC236}">
                  <a16:creationId xmlns:a16="http://schemas.microsoft.com/office/drawing/2014/main" id="{FD71A168-EB14-EF47-1E94-F76B3A5DB366}"/>
                </a:ext>
              </a:extLst>
            </p:cNvPr>
            <p:cNvCxnSpPr/>
            <p:nvPr/>
          </p:nvCxnSpPr>
          <p:spPr>
            <a:xfrm flipH="1" flipV="1">
              <a:off x="0" y="1158745"/>
              <a:ext cx="6557820" cy="2153751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  <p:cxnSp>
          <p:nvCxnSpPr>
            <p:cNvPr id="5" name="Straight Connector 5">
              <a:extLst>
                <a:ext uri="{FF2B5EF4-FFF2-40B4-BE49-F238E27FC236}">
                  <a16:creationId xmlns:a16="http://schemas.microsoft.com/office/drawing/2014/main" id="{B9C25F3E-A1B2-F76F-10E1-5149478AE45E}"/>
                </a:ext>
              </a:extLst>
            </p:cNvPr>
            <p:cNvCxnSpPr/>
            <p:nvPr/>
          </p:nvCxnSpPr>
          <p:spPr>
            <a:xfrm flipH="1" flipV="1">
              <a:off x="3633030" y="0"/>
              <a:ext cx="2924790" cy="6858000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</p:grpSp>
    </p:spTree>
    <p:extLst>
      <p:ext uri="{BB962C8B-B14F-4D97-AF65-F5344CB8AC3E}">
        <p14:creationId xmlns:p14="http://schemas.microsoft.com/office/powerpoint/2010/main" val="8828726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EBB01-EDAF-7BE4-9698-D254331F9E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1346" y="487676"/>
            <a:ext cx="4179566" cy="3376687"/>
          </a:xfrm>
        </p:spPr>
        <p:txBody>
          <a:bodyPr anchor="b">
            <a:noAutofit/>
          </a:bodyPr>
          <a:lstStyle>
            <a:lvl1pPr>
              <a:defRPr sz="36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7FB0F447-35BB-19E1-8C5E-40B1286F7719}"/>
              </a:ext>
            </a:extLst>
          </p:cNvPr>
          <p:cNvCxnSpPr/>
          <p:nvPr/>
        </p:nvCxnSpPr>
        <p:spPr>
          <a:xfrm>
            <a:off x="3990670" y="0"/>
            <a:ext cx="1126275" cy="2512286"/>
          </a:xfrm>
          <a:prstGeom prst="straightConnector1">
            <a:avLst/>
          </a:prstGeom>
          <a:noFill/>
          <a:ln w="6345" cap="flat">
            <a:solidFill>
              <a:srgbClr val="FFFFFF"/>
            </a:solidFill>
            <a:prstDash val="solid"/>
            <a:miter/>
          </a:ln>
        </p:spPr>
      </p:cxn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865590F4-C88D-FDF4-B612-E15C53CDB78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-5084"/>
            <a:ext cx="6576291" cy="6872602"/>
          </a:xfrm>
        </p:spPr>
        <p:txBody>
          <a:bodyPr lIns="182880" tIns="182880" bIns="9144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96850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795F2-B6F4-F231-C279-78C0FC9C8F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3" y="268358"/>
            <a:ext cx="7288280" cy="2121179"/>
          </a:xfrm>
        </p:spPr>
        <p:txBody>
          <a:bodyPr anchor="b"/>
          <a:lstStyle>
            <a:lvl1pPr>
              <a:defRPr sz="28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B505400-2D94-B027-FD72-252D6BE0B2D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322386" y="2763079"/>
            <a:ext cx="7288216" cy="340705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 spc="5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defRPr sz="1800" spc="5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defRPr sz="1800" spc="5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defRPr spc="5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defRPr spc="5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68FAC4EC-8770-4DF4-9D6A-4AE13FA5373E}"/>
              </a:ext>
            </a:extLst>
          </p:cNvPr>
          <p:cNvGrpSpPr/>
          <p:nvPr/>
        </p:nvGrpSpPr>
        <p:grpSpPr>
          <a:xfrm>
            <a:off x="9096378" y="-25402"/>
            <a:ext cx="3095618" cy="6883402"/>
            <a:chOff x="9096378" y="-25402"/>
            <a:chExt cx="3095618" cy="6883402"/>
          </a:xfrm>
        </p:grpSpPr>
        <p:cxnSp>
          <p:nvCxnSpPr>
            <p:cNvPr id="5" name="Straight Connector 9">
              <a:extLst>
                <a:ext uri="{FF2B5EF4-FFF2-40B4-BE49-F238E27FC236}">
                  <a16:creationId xmlns:a16="http://schemas.microsoft.com/office/drawing/2014/main" id="{F36E9F60-7C0B-06A6-5916-5E1C12567E6B}"/>
                </a:ext>
              </a:extLst>
            </p:cNvPr>
            <p:cNvCxnSpPr/>
            <p:nvPr/>
          </p:nvCxnSpPr>
          <p:spPr>
            <a:xfrm>
              <a:off x="9096378" y="1497009"/>
              <a:ext cx="3095618" cy="0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  <p:cxnSp>
          <p:nvCxnSpPr>
            <p:cNvPr id="6" name="Straight Connector 10">
              <a:extLst>
                <a:ext uri="{FF2B5EF4-FFF2-40B4-BE49-F238E27FC236}">
                  <a16:creationId xmlns:a16="http://schemas.microsoft.com/office/drawing/2014/main" id="{202D8013-E352-2B3A-6902-12AE2086C6B1}"/>
                </a:ext>
              </a:extLst>
            </p:cNvPr>
            <p:cNvCxnSpPr/>
            <p:nvPr/>
          </p:nvCxnSpPr>
          <p:spPr>
            <a:xfrm flipH="1">
              <a:off x="9381744" y="-25402"/>
              <a:ext cx="2810252" cy="6883402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</p:grpSp>
      <p:cxnSp>
        <p:nvCxnSpPr>
          <p:cNvPr id="7" name="Straight Connector 11">
            <a:extLst>
              <a:ext uri="{FF2B5EF4-FFF2-40B4-BE49-F238E27FC236}">
                <a16:creationId xmlns:a16="http://schemas.microsoft.com/office/drawing/2014/main" id="{4FB85204-50B0-F015-2224-258AA774FA47}"/>
              </a:ext>
            </a:extLst>
          </p:cNvPr>
          <p:cNvCxnSpPr/>
          <p:nvPr/>
        </p:nvCxnSpPr>
        <p:spPr>
          <a:xfrm rot="10799975" flipH="1">
            <a:off x="0" y="-25402"/>
            <a:ext cx="1210574" cy="2048164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C322CB8-2A00-1B8C-08B2-14A01382954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333496" y="6356351"/>
            <a:ext cx="3819229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EAB6BD5-0576-32F5-2641-4E14B011C05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73346" y="6356351"/>
            <a:ext cx="987552" cy="365129"/>
          </a:xfrm>
        </p:spPr>
        <p:txBody>
          <a:bodyPr/>
          <a:lstStyle>
            <a:lvl1pPr>
              <a:defRPr sz="900"/>
            </a:lvl1pPr>
          </a:lstStyle>
          <a:p>
            <a:pPr lvl="0"/>
            <a:fld id="{C73B46B4-029C-4934-B57B-999B8FD8E2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36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DA34-04F6-B243-F102-3F36A55BB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1346" y="406395"/>
            <a:ext cx="4179566" cy="3457968"/>
          </a:xfrm>
        </p:spPr>
        <p:txBody>
          <a:bodyPr anchor="b">
            <a:noAutofit/>
          </a:bodyPr>
          <a:lstStyle>
            <a:lvl1pPr>
              <a:defRPr sz="36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2D1886A-FEE7-0F73-B8F9-78190DFA7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1" cy="520064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489603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9">
            <a:extLst>
              <a:ext uri="{FF2B5EF4-FFF2-40B4-BE49-F238E27FC236}">
                <a16:creationId xmlns:a16="http://schemas.microsoft.com/office/drawing/2014/main" id="{B6C20F3A-CFDB-656A-F4E0-6818F16E3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>
            <a:fillRect/>
          </a:stretch>
        </p:blipFill>
        <p:spPr>
          <a:xfrm>
            <a:off x="25786" y="0"/>
            <a:ext cx="4093631" cy="391239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2E5F63-1969-5159-D5AC-8B505D2E9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3696" y="568957"/>
            <a:ext cx="8420096" cy="1780858"/>
          </a:xfrm>
        </p:spPr>
        <p:txBody>
          <a:bodyPr anchor="b"/>
          <a:lstStyle>
            <a:lvl1pPr>
              <a:defRPr sz="28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0E48508-8467-2962-BE03-F0E74FA056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933696" y="2797259"/>
            <a:ext cx="3924303" cy="464496"/>
          </a:xfrm>
        </p:spPr>
        <p:txBody>
          <a:bodyPr/>
          <a:lstStyle>
            <a:lvl1pPr marL="0" indent="0">
              <a:buNone/>
              <a:defRPr sz="1800" b="1" spc="5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EC8FFDE-009B-3340-648A-1DFCEC08C20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933696" y="3251597"/>
            <a:ext cx="3943624" cy="3234260"/>
          </a:xfrm>
        </p:spPr>
        <p:txBody>
          <a:bodyPr tIns="0"/>
          <a:lstStyle>
            <a:lvl1pPr marL="0" indent="0">
              <a:lnSpc>
                <a:spcPct val="100000"/>
              </a:lnSpc>
              <a:buNone/>
              <a:defRPr sz="1800" spc="5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defRPr sz="1800" spc="5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defRPr sz="1800" spc="5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defRPr spc="5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defRPr spc="5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269FBF4-5344-C6C5-9CF5-3F90E4A81B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410169" y="2797259"/>
            <a:ext cx="3943624" cy="464496"/>
          </a:xfrm>
        </p:spPr>
        <p:txBody>
          <a:bodyPr/>
          <a:lstStyle>
            <a:lvl1pPr marL="0" indent="0">
              <a:buNone/>
              <a:defRPr sz="1800" b="1" spc="5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9A07C04-12B6-E9A5-D34D-F88C7F0ADA9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410169" y="3251597"/>
            <a:ext cx="3943624" cy="3234260"/>
          </a:xfrm>
        </p:spPr>
        <p:txBody>
          <a:bodyPr tIns="0"/>
          <a:lstStyle>
            <a:lvl1pPr marL="0" indent="0">
              <a:lnSpc>
                <a:spcPct val="100000"/>
              </a:lnSpc>
              <a:buNone/>
              <a:defRPr sz="1800" spc="5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defRPr sz="1800" spc="5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defRPr sz="1800" spc="5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defRPr spc="5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defRPr spc="5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D8823B8-4327-C73C-21F0-60AB0968D02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969257" y="6356351"/>
            <a:ext cx="3819229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76ECB9-74E9-0D90-ADB4-5B1F419596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73346" y="6356351"/>
            <a:ext cx="987552" cy="365129"/>
          </a:xfrm>
        </p:spPr>
        <p:txBody>
          <a:bodyPr/>
          <a:lstStyle>
            <a:lvl1pPr>
              <a:defRPr sz="900"/>
            </a:lvl1pPr>
          </a:lstStyle>
          <a:p>
            <a:pPr lvl="0"/>
            <a:fld id="{54E14858-8C18-4792-9E08-88750B2F8E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38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472F-159D-2267-12FF-87E465738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1123" y="558798"/>
            <a:ext cx="9953308" cy="1780858"/>
          </a:xfrm>
        </p:spPr>
        <p:txBody>
          <a:bodyPr anchor="b"/>
          <a:lstStyle>
            <a:lvl1pPr>
              <a:defRPr sz="28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23400A18-1A53-6373-0A59-ACE8402C9479}"/>
              </a:ext>
            </a:extLst>
          </p:cNvPr>
          <p:cNvGrpSpPr/>
          <p:nvPr/>
        </p:nvGrpSpPr>
        <p:grpSpPr>
          <a:xfrm>
            <a:off x="4429819" y="0"/>
            <a:ext cx="7762177" cy="2754812"/>
            <a:chOff x="4429819" y="0"/>
            <a:chExt cx="7762177" cy="2754812"/>
          </a:xfrm>
        </p:grpSpPr>
        <p:cxnSp>
          <p:nvCxnSpPr>
            <p:cNvPr id="4" name="Straight Connector 10">
              <a:extLst>
                <a:ext uri="{FF2B5EF4-FFF2-40B4-BE49-F238E27FC236}">
                  <a16:creationId xmlns:a16="http://schemas.microsoft.com/office/drawing/2014/main" id="{BC1EB1C0-D5D2-BE56-CE19-47DD419AFA41}"/>
                </a:ext>
              </a:extLst>
            </p:cNvPr>
            <p:cNvCxnSpPr/>
            <p:nvPr/>
          </p:nvCxnSpPr>
          <p:spPr>
            <a:xfrm flipH="1" flipV="1">
              <a:off x="4429819" y="0"/>
              <a:ext cx="7762177" cy="1217596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  <p:cxnSp>
          <p:nvCxnSpPr>
            <p:cNvPr id="5" name="Straight Connector 11">
              <a:extLst>
                <a:ext uri="{FF2B5EF4-FFF2-40B4-BE49-F238E27FC236}">
                  <a16:creationId xmlns:a16="http://schemas.microsoft.com/office/drawing/2014/main" id="{7422703E-7A32-7AB1-E0B3-7C8D5102D8D9}"/>
                </a:ext>
              </a:extLst>
            </p:cNvPr>
            <p:cNvCxnSpPr/>
            <p:nvPr/>
          </p:nvCxnSpPr>
          <p:spPr>
            <a:xfrm>
              <a:off x="11065721" y="0"/>
              <a:ext cx="1126275" cy="2754812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</p:grp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FE17762-73D6-9EEB-192E-5263288133B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341123" y="2960872"/>
            <a:ext cx="2722882" cy="351285"/>
          </a:xfrm>
        </p:spPr>
        <p:txBody>
          <a:bodyPr/>
          <a:lstStyle>
            <a:lvl1pPr marL="0" indent="0">
              <a:buNone/>
              <a:defRPr sz="1800" b="1" spc="5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CD72BDD-BB9E-D0EA-048C-C0EAF16119C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341123" y="3392030"/>
            <a:ext cx="2722882" cy="2907161"/>
          </a:xfrm>
        </p:spPr>
        <p:txBody>
          <a:bodyPr tIns="0"/>
          <a:lstStyle>
            <a:lvl1pPr marL="283464" indent="-283464">
              <a:lnSpc>
                <a:spcPct val="100000"/>
              </a:lnSpc>
              <a:buFont typeface="Tenorite"/>
              <a:buAutoNum type="arabicPeriod"/>
              <a:defRPr sz="1800" spc="5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Tenorite"/>
              <a:buAutoNum type="alphaLcPeriod"/>
              <a:defRPr sz="1800" spc="5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Tenorite"/>
              <a:buAutoNum type="arabicParenR"/>
              <a:defRPr sz="1800" spc="5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Tenorite"/>
              <a:buAutoNum type="alphaLcParenR"/>
              <a:defRPr spc="50"/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4F02F0E-D968-62DE-748A-0BE1FDF916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54880" y="2960872"/>
            <a:ext cx="5516876" cy="351285"/>
          </a:xfrm>
        </p:spPr>
        <p:txBody>
          <a:bodyPr/>
          <a:lstStyle>
            <a:lvl1pPr marL="0" indent="0">
              <a:buNone/>
              <a:defRPr sz="1800" b="1" spc="5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6440DF1-F936-254D-0EDC-B68F77C4838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54880" y="3324858"/>
            <a:ext cx="5506717" cy="3031492"/>
          </a:xfrm>
        </p:spPr>
        <p:txBody>
          <a:bodyPr tIns="0"/>
          <a:lstStyle>
            <a:lvl1pPr marL="0" indent="0">
              <a:lnSpc>
                <a:spcPct val="100000"/>
              </a:lnSpc>
              <a:buNone/>
              <a:defRPr sz="1800" spc="5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defRPr sz="1800" spc="5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defRPr sz="1800" spc="5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defRPr spc="5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defRPr spc="5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3271054-DF47-3B0F-2AAD-4503C4A8C72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333496" y="6356351"/>
            <a:ext cx="3819229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2D18EB2-B78A-117F-B80D-DE7450593B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73346" y="6356351"/>
            <a:ext cx="987552" cy="365129"/>
          </a:xfrm>
        </p:spPr>
        <p:txBody>
          <a:bodyPr/>
          <a:lstStyle>
            <a:lvl1pPr>
              <a:defRPr sz="900"/>
            </a:lvl1pPr>
          </a:lstStyle>
          <a:p>
            <a:pPr lvl="0"/>
            <a:fld id="{3F85D6D8-89C9-4E38-9FBE-C5972B002A7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8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0">
            <a:extLst>
              <a:ext uri="{FF2B5EF4-FFF2-40B4-BE49-F238E27FC236}">
                <a16:creationId xmlns:a16="http://schemas.microsoft.com/office/drawing/2014/main" id="{65233BDE-37AC-91C9-1515-7A5243AF75F0}"/>
              </a:ext>
            </a:extLst>
          </p:cNvPr>
          <p:cNvCxnSpPr/>
          <p:nvPr/>
        </p:nvCxnSpPr>
        <p:spPr>
          <a:xfrm flipH="1" flipV="1">
            <a:off x="3094183" y="0"/>
            <a:ext cx="1745672" cy="3897748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1EE2CA5E-C79B-3F60-16FB-3D0A41090D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6871" y="1671642"/>
            <a:ext cx="5884026" cy="1204914"/>
          </a:xfrm>
        </p:spPr>
        <p:txBody>
          <a:bodyPr anchor="b"/>
          <a:lstStyle>
            <a:lvl1pPr>
              <a:defRPr sz="28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F6DE19AB-967C-FF01-AC3F-0C05BCF4E59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-28227" y="-9144"/>
            <a:ext cx="5481956" cy="6876288"/>
          </a:xfrm>
        </p:spPr>
        <p:txBody>
          <a:bodyPr lIns="274320" tIns="91440" bIns="91440"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45ECA-F6EE-CAED-D24C-8EBDD896DE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825502" y="6356351"/>
            <a:ext cx="3819229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2C71A-1A0A-F6E9-0B9A-C071FE1975A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73346" y="6356351"/>
            <a:ext cx="987552" cy="365129"/>
          </a:xfrm>
        </p:spPr>
        <p:txBody>
          <a:bodyPr/>
          <a:lstStyle>
            <a:lvl1pPr>
              <a:defRPr sz="900"/>
            </a:lvl1pPr>
          </a:lstStyle>
          <a:p>
            <a:pPr lvl="0"/>
            <a:fld id="{14B97EEF-7C92-4C01-9BBB-D9D56FCD2916}" type="slidenum">
              <a:t>‹#›</a:t>
            </a:fld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008EA30-7253-5910-CEF1-EFEA7E67B53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453728" y="3660772"/>
            <a:ext cx="5907179" cy="2536829"/>
          </a:xfrm>
        </p:spPr>
        <p:txBody>
          <a:bodyPr tIns="0"/>
          <a:lstStyle>
            <a:lvl1pPr marL="0" indent="0">
              <a:lnSpc>
                <a:spcPct val="100000"/>
              </a:lnSpc>
              <a:buNone/>
              <a:defRPr sz="1800" spc="5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defRPr sz="1800" spc="5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defRPr sz="1800" spc="5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defRPr spc="5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defRPr spc="5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913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72C8-0033-57B1-BCDD-0E8F6BE51F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895353"/>
            <a:ext cx="3247665" cy="1917697"/>
          </a:xfrm>
        </p:spPr>
        <p:txBody>
          <a:bodyPr/>
          <a:lstStyle>
            <a:lvl1pPr>
              <a:defRPr sz="24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4924E82-09F7-D8E0-591A-A4948DF002A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38203" y="2813051"/>
            <a:ext cx="3247665" cy="3238503"/>
          </a:xfrm>
        </p:spPr>
        <p:txBody>
          <a:bodyPr tIns="0"/>
          <a:lstStyle>
            <a:lvl1pPr marL="0" indent="0">
              <a:lnSpc>
                <a:spcPct val="100000"/>
              </a:lnSpc>
              <a:buNone/>
              <a:defRPr sz="1800" spc="5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defRPr sz="1800" spc="5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defRPr sz="1800" spc="5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defRPr spc="5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defRPr spc="5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able Placeholder 7">
            <a:extLst>
              <a:ext uri="{FF2B5EF4-FFF2-40B4-BE49-F238E27FC236}">
                <a16:creationId xmlns:a16="http://schemas.microsoft.com/office/drawing/2014/main" id="{7351508E-3D85-DEA9-FDA3-7DEE2E1C24AA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4216398" y="895929"/>
            <a:ext cx="7137404" cy="5115885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icon to add table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4DBB0-7672-5418-EA65-9E23848C7BF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31611" y="6356351"/>
            <a:ext cx="3819229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48D87-B338-E2BF-DA85-F11A7F67B0F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73346" y="6356351"/>
            <a:ext cx="987552" cy="365129"/>
          </a:xfrm>
        </p:spPr>
        <p:txBody>
          <a:bodyPr/>
          <a:lstStyle>
            <a:lvl1pPr>
              <a:defRPr sz="900"/>
            </a:lvl1pPr>
          </a:lstStyle>
          <a:p>
            <a:pPr lvl="0"/>
            <a:fld id="{2241D762-6F22-4769-A114-0830FEB5AFBE}" type="slidenum">
              <a:t>‹#›</a:t>
            </a:fld>
            <a:endParaRPr lang="en-US"/>
          </a:p>
        </p:txBody>
      </p:sp>
      <p:grpSp>
        <p:nvGrpSpPr>
          <p:cNvPr id="7" name="Group 13">
            <a:extLst>
              <a:ext uri="{FF2B5EF4-FFF2-40B4-BE49-F238E27FC236}">
                <a16:creationId xmlns:a16="http://schemas.microsoft.com/office/drawing/2014/main" id="{62D288F1-7CA6-9222-787D-755099E0A8B3}"/>
              </a:ext>
            </a:extLst>
          </p:cNvPr>
          <p:cNvGrpSpPr/>
          <p:nvPr/>
        </p:nvGrpSpPr>
        <p:grpSpPr>
          <a:xfrm>
            <a:off x="0" y="0"/>
            <a:ext cx="2327559" cy="1505532"/>
            <a:chOff x="0" y="0"/>
            <a:chExt cx="2327559" cy="1505532"/>
          </a:xfrm>
        </p:grpSpPr>
        <p:cxnSp>
          <p:nvCxnSpPr>
            <p:cNvPr id="8" name="Straight Connector 14">
              <a:extLst>
                <a:ext uri="{FF2B5EF4-FFF2-40B4-BE49-F238E27FC236}">
                  <a16:creationId xmlns:a16="http://schemas.microsoft.com/office/drawing/2014/main" id="{AB350990-2996-0558-F7B5-43FADF7633F9}"/>
                </a:ext>
              </a:extLst>
            </p:cNvPr>
            <p:cNvCxnSpPr/>
            <p:nvPr/>
          </p:nvCxnSpPr>
          <p:spPr>
            <a:xfrm flipH="1">
              <a:off x="0" y="0"/>
              <a:ext cx="1287584" cy="1505532"/>
            </a:xfrm>
            <a:prstGeom prst="straightConnector1">
              <a:avLst/>
            </a:prstGeom>
            <a:noFill/>
            <a:ln w="3172" cap="flat">
              <a:solidFill>
                <a:srgbClr val="000000"/>
              </a:solidFill>
              <a:prstDash val="solid"/>
              <a:miter/>
            </a:ln>
          </p:spPr>
        </p:cxnSp>
        <p:cxnSp>
          <p:nvCxnSpPr>
            <p:cNvPr id="9" name="Straight Connector 15">
              <a:extLst>
                <a:ext uri="{FF2B5EF4-FFF2-40B4-BE49-F238E27FC236}">
                  <a16:creationId xmlns:a16="http://schemas.microsoft.com/office/drawing/2014/main" id="{5B8D1429-8566-F025-189E-53B19511630C}"/>
                </a:ext>
              </a:extLst>
            </p:cNvPr>
            <p:cNvCxnSpPr/>
            <p:nvPr/>
          </p:nvCxnSpPr>
          <p:spPr>
            <a:xfrm flipH="1">
              <a:off x="0" y="0"/>
              <a:ext cx="2327559" cy="1200726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</p:grpSp>
    </p:spTree>
    <p:extLst>
      <p:ext uri="{BB962C8B-B14F-4D97-AF65-F5344CB8AC3E}">
        <p14:creationId xmlns:p14="http://schemas.microsoft.com/office/powerpoint/2010/main" val="42769475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7494-D5D9-5404-5ACD-3EDFF703F9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37194"/>
            <a:ext cx="5655198" cy="1997863"/>
          </a:xfrm>
        </p:spPr>
        <p:txBody>
          <a:bodyPr anchor="b"/>
          <a:lstStyle>
            <a:lvl1pPr>
              <a:defRPr sz="28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29A51-18F6-B237-01C8-A87325FA2FC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203" y="2705179"/>
            <a:ext cx="5733772" cy="448988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5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5772A-7305-BB20-7C59-7D047EC4E5D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38203" y="3154167"/>
            <a:ext cx="5733772" cy="3032735"/>
          </a:xfrm>
        </p:spPr>
        <p:txBody>
          <a:bodyPr/>
          <a:lstStyle>
            <a:lvl1pPr marL="285750" indent="-285750">
              <a:lnSpc>
                <a:spcPct val="100000"/>
              </a:lnSpc>
              <a:defRPr sz="1800" spc="50"/>
            </a:lvl1pPr>
            <a:lvl2pPr marL="742950" indent="-285750">
              <a:lnSpc>
                <a:spcPct val="100000"/>
              </a:lnSpc>
              <a:defRPr sz="1800" spc="50"/>
            </a:lvl2pPr>
            <a:lvl3pPr marL="1200150" indent="-285750">
              <a:lnSpc>
                <a:spcPct val="100000"/>
              </a:lnSpc>
              <a:defRPr sz="1800" spc="50"/>
            </a:lvl3pPr>
            <a:lvl4pPr marL="1657350" indent="-285750">
              <a:lnSpc>
                <a:spcPct val="100000"/>
              </a:lnSpc>
              <a:defRPr spc="50"/>
            </a:lvl4pPr>
            <a:lvl5pPr marL="2114549" indent="-285750">
              <a:lnSpc>
                <a:spcPct val="100000"/>
              </a:lnSpc>
              <a:defRPr spc="5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2F5BE-641F-871C-FC28-75140217F72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87111" y="2705179"/>
            <a:ext cx="3943624" cy="448988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5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43EC343-2BB9-DB96-B75A-31436E0F46C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887111" y="3164866"/>
            <a:ext cx="3943624" cy="3032735"/>
          </a:xfrm>
        </p:spPr>
        <p:txBody>
          <a:bodyPr tIns="0"/>
          <a:lstStyle>
            <a:lvl1pPr marL="0" indent="0">
              <a:lnSpc>
                <a:spcPct val="100000"/>
              </a:lnSpc>
              <a:buNone/>
              <a:defRPr sz="1800" spc="5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defRPr sz="1800" spc="5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defRPr sz="1800" spc="5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defRPr spc="5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defRPr spc="5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9254568-AACB-94A6-3CFC-C4202BC5C1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843982" y="6356351"/>
            <a:ext cx="4114800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F6491822-67F4-B362-1CAA-3E9826EAAC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sz="900"/>
            </a:lvl1pPr>
          </a:lstStyle>
          <a:p>
            <a:pPr lvl="0"/>
            <a:fld id="{8B5F34EA-8806-43A6-9EC9-70D7CDED2DD0}" type="slidenum">
              <a:t>‹#›</a:t>
            </a:fld>
            <a:endParaRPr lang="en-US"/>
          </a:p>
        </p:txBody>
      </p:sp>
      <p:pic>
        <p:nvPicPr>
          <p:cNvPr id="9" name="Graphic 12">
            <a:extLst>
              <a:ext uri="{FF2B5EF4-FFF2-40B4-BE49-F238E27FC236}">
                <a16:creationId xmlns:a16="http://schemas.microsoft.com/office/drawing/2014/main" id="{4F712C55-BB95-0492-1823-0445DFEAB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>
            <a:fillRect/>
          </a:stretch>
        </p:blipFill>
        <p:spPr>
          <a:xfrm rot="10799991" flipH="1">
            <a:off x="6308436" y="-55"/>
            <a:ext cx="5883560" cy="236642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5572181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AD0A15A1-752A-B9E5-9AEB-6B3560EC4A59}"/>
              </a:ext>
            </a:extLst>
          </p:cNvPr>
          <p:cNvGrpSpPr/>
          <p:nvPr/>
        </p:nvGrpSpPr>
        <p:grpSpPr>
          <a:xfrm>
            <a:off x="0" y="0"/>
            <a:ext cx="2590796" cy="1027904"/>
            <a:chOff x="0" y="0"/>
            <a:chExt cx="2590796" cy="1027904"/>
          </a:xfrm>
        </p:grpSpPr>
        <p:cxnSp>
          <p:nvCxnSpPr>
            <p:cNvPr id="3" name="Straight Connector 10">
              <a:extLst>
                <a:ext uri="{FF2B5EF4-FFF2-40B4-BE49-F238E27FC236}">
                  <a16:creationId xmlns:a16="http://schemas.microsoft.com/office/drawing/2014/main" id="{AED0B013-D970-78E3-8DE6-5D085327AA2A}"/>
                </a:ext>
              </a:extLst>
            </p:cNvPr>
            <p:cNvCxnSpPr/>
            <p:nvPr/>
          </p:nvCxnSpPr>
          <p:spPr>
            <a:xfrm flipV="1">
              <a:off x="0" y="0"/>
              <a:ext cx="2590796" cy="761996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  <p:cxnSp>
          <p:nvCxnSpPr>
            <p:cNvPr id="4" name="Straight Connector 11">
              <a:extLst>
                <a:ext uri="{FF2B5EF4-FFF2-40B4-BE49-F238E27FC236}">
                  <a16:creationId xmlns:a16="http://schemas.microsoft.com/office/drawing/2014/main" id="{1778E994-52D0-5531-D214-8FAD63FC96C3}"/>
                </a:ext>
              </a:extLst>
            </p:cNvPr>
            <p:cNvCxnSpPr/>
            <p:nvPr/>
          </p:nvCxnSpPr>
          <p:spPr>
            <a:xfrm flipH="1">
              <a:off x="0" y="0"/>
              <a:ext cx="704846" cy="1027904"/>
            </a:xfrm>
            <a:prstGeom prst="straightConnector1">
              <a:avLst/>
            </a:prstGeom>
            <a:noFill/>
            <a:ln w="6345" cap="flat">
              <a:solidFill>
                <a:srgbClr val="000000"/>
              </a:solidFill>
              <a:prstDash val="solid"/>
              <a:miter/>
            </a:ln>
          </p:spPr>
        </p:cxn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B2202B1B-270B-8667-8ADA-625DE90C2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53552"/>
            <a:ext cx="10515600" cy="1325559"/>
          </a:xfrm>
        </p:spPr>
        <p:txBody>
          <a:bodyPr anchor="b" anchorCtr="1"/>
          <a:lstStyle>
            <a:lvl1pPr algn="ctr">
              <a:defRPr sz="2800" spc="15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Table Placeholder 7">
            <a:extLst>
              <a:ext uri="{FF2B5EF4-FFF2-40B4-BE49-F238E27FC236}">
                <a16:creationId xmlns:a16="http://schemas.microsoft.com/office/drawing/2014/main" id="{5B321686-1868-CA0D-C3DD-AE1D0BB9B1E2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838203" y="2111377"/>
            <a:ext cx="10515600" cy="3570960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icon to add table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E9FA265-94AB-214F-897C-9492F791AB5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838203" y="6356351"/>
            <a:ext cx="3819229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70A483B-80A0-0FAB-8E2C-3F24B8F9A7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73346" y="6356351"/>
            <a:ext cx="987552" cy="365129"/>
          </a:xfrm>
        </p:spPr>
        <p:txBody>
          <a:bodyPr/>
          <a:lstStyle>
            <a:lvl1pPr>
              <a:defRPr sz="900"/>
            </a:lvl1pPr>
          </a:lstStyle>
          <a:p>
            <a:pPr lvl="0"/>
            <a:fld id="{95E70821-759F-4A17-B7B0-26E356B9CB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789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509C6-5CBA-F15B-234C-8636DF5F8E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267203" y="1615735"/>
            <a:ext cx="4179566" cy="1524734"/>
          </a:xfrm>
        </p:spPr>
        <p:txBody>
          <a:bodyPr anchor="b">
            <a:noAutofit/>
          </a:bodyPr>
          <a:lstStyle>
            <a:lvl1pPr>
              <a:defRPr sz="36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62AE3-3934-9EBF-CB6E-7395EF75A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67203" y="3238100"/>
            <a:ext cx="4179566" cy="285018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800" spc="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4" name="Graphic 5">
            <a:extLst>
              <a:ext uri="{FF2B5EF4-FFF2-40B4-BE49-F238E27FC236}">
                <a16:creationId xmlns:a16="http://schemas.microsoft.com/office/drawing/2014/main" id="{F040983F-F1E0-F920-10D5-730400960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6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C43991AE-A4F8-8C53-B9FB-05043A3CEDB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267203" y="6356351"/>
            <a:ext cx="4179566" cy="365129"/>
          </a:xfrm>
        </p:spPr>
        <p:txBody>
          <a:bodyPr anchorCtr="0"/>
          <a:lstStyle>
            <a:lvl1pPr algn="l">
              <a:defRPr sz="900"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CE052F0-2D11-0C8D-9E91-0E91DAC969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579428" y="6356351"/>
            <a:ext cx="1774374" cy="365129"/>
          </a:xfrm>
        </p:spPr>
        <p:txBody>
          <a:bodyPr/>
          <a:lstStyle>
            <a:lvl1pPr>
              <a:defRPr sz="900"/>
            </a:lvl1pPr>
          </a:lstStyle>
          <a:p>
            <a:pPr lvl="0"/>
            <a:fld id="{CF7EEBF8-0B2C-4657-BC7B-1917B9AE31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1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5B425-3C52-103F-6D54-5D9B700B61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32750-E108-768B-1065-21A82E2D4D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6E8CD-390C-51E6-0746-9EB6272935B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BBFEB-A13B-0FC9-BE42-1C4AA1309E9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338E1-46F7-E868-164F-8E7A96C6FCF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fld id="{9468121C-0328-48D8-B585-0B11B22FE3E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all" spc="0" baseline="0">
          <a:solidFill>
            <a:srgbClr val="000000"/>
          </a:solidFill>
          <a:uFillTx/>
          <a:latin typeface="Tenorite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Tenorite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Tenorite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Tenorite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Tenorite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Tenorite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406A-B265-658A-829C-185C1BB09B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6288" y="4139330"/>
            <a:ext cx="8614260" cy="1958233"/>
          </a:xfrm>
        </p:spPr>
        <p:txBody>
          <a:bodyPr/>
          <a:lstStyle/>
          <a:p>
            <a:pPr lvl="0"/>
            <a:r>
              <a:rPr lang="en-US" b="1" dirty="0"/>
              <a:t>Foundations of math in Lean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BBCA0-54E9-3FB0-F3D5-DC9FD259DA38}"/>
              </a:ext>
            </a:extLst>
          </p:cNvPr>
          <p:cNvSpPr txBox="1"/>
          <p:nvPr/>
        </p:nvSpPr>
        <p:spPr>
          <a:xfrm>
            <a:off x="4610103" y="5336417"/>
            <a:ext cx="714663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enorite"/>
              </a:rPr>
              <a:t>Author: Davood Haji Taghi Tehrani, Supervisor: Prof. David Gross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834A3-6035-54EC-9DE5-AEF941D90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77" y="4449522"/>
            <a:ext cx="1952624" cy="195262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8E8F-433E-E310-A210-4F256C02E5A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CCB4-3497-CD5E-1DE1-78D97055D01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200" dirty="0"/>
              <a:t>Why?</a:t>
            </a:r>
          </a:p>
          <a:p>
            <a:pPr lvl="0"/>
            <a:r>
              <a:rPr lang="en-US" sz="2200" dirty="0"/>
              <a:t>What?</a:t>
            </a:r>
          </a:p>
          <a:p>
            <a:pPr lvl="0"/>
            <a:r>
              <a:rPr lang="en-US" sz="2200" dirty="0"/>
              <a:t>How?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5835BCA-020D-B49B-0F7D-EF59A7405A65}"/>
              </a:ext>
            </a:extLst>
          </p:cNvPr>
          <p:cNvSpPr txBox="1"/>
          <p:nvPr/>
        </p:nvSpPr>
        <p:spPr>
          <a:xfrm>
            <a:off x="10373346" y="6356351"/>
            <a:ext cx="987552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1E51B73-7688-43C7-ADD9-D4949150E3D9}" type="slidenum">
              <a:t>2</a:t>
            </a:fld>
            <a:endParaRPr lang="en-US" sz="900" b="0" i="0" u="none" strike="noStrike" kern="1200" cap="none" spc="0" baseline="0">
              <a:solidFill>
                <a:srgbClr val="898989"/>
              </a:solidFill>
              <a:uFillTx/>
              <a:latin typeface="Tenorite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89C2-E67A-0245-4985-64D33153EE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Why?</a:t>
            </a:r>
            <a:endParaRPr lang="en-DE" b="1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EC4BF5C2-1B02-3AED-D647-AB31B6E62DBE}"/>
              </a:ext>
            </a:extLst>
          </p:cNvPr>
          <p:cNvSpPr txBox="1"/>
          <p:nvPr/>
        </p:nvSpPr>
        <p:spPr>
          <a:xfrm>
            <a:off x="1504956" y="1997835"/>
            <a:ext cx="8924918" cy="28623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Manual calculation → </a:t>
            </a:r>
            <a:r>
              <a:rPr lang="en-US" sz="3000" b="0" i="0" u="none" strike="noStrike" kern="1200" cap="none" spc="0" baseline="0" dirty="0">
                <a:solidFill>
                  <a:srgbClr val="2F5597"/>
                </a:solidFill>
                <a:uFillTx/>
                <a:latin typeface="Calibri"/>
              </a:rPr>
              <a:t>numerical computation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Paper proof → </a:t>
            </a:r>
            <a:r>
              <a:rPr lang="en-US" sz="3000" b="0" i="0" u="none" strike="noStrike" kern="1200" cap="none" spc="0" baseline="0" dirty="0">
                <a:solidFill>
                  <a:srgbClr val="2F5597"/>
                </a:solidFill>
                <a:uFillTx/>
                <a:latin typeface="Calibri"/>
              </a:rPr>
              <a:t>computer-assisted proof</a:t>
            </a:r>
            <a:br>
              <a:rPr lang="en-US" sz="3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</a:br>
            <a:endParaRPr lang="en-US" sz="3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Working with </a:t>
            </a:r>
            <a:r>
              <a:rPr lang="en-US" sz="3000" b="0" i="0" u="none" strike="noStrike" kern="1200" cap="none" spc="0" baseline="0" dirty="0">
                <a:solidFill>
                  <a:srgbClr val="C55A11"/>
                </a:solidFill>
                <a:uFillTx/>
                <a:latin typeface="Calibri"/>
              </a:rPr>
              <a:t>infinities </a:t>
            </a:r>
            <a:r>
              <a:rPr lang="en-US" sz="3000" b="0" i="0" u="none" strike="noStrike" kern="1200" cap="none" spc="0" baseline="0" dirty="0">
                <a:uFillTx/>
                <a:latin typeface="Calibri"/>
              </a:rPr>
              <a:t>(e.g. Real Numbers)</a:t>
            </a:r>
            <a:endParaRPr lang="en-US" sz="3000" b="0" i="0" u="none" strike="noStrike" kern="1200" cap="none" spc="0" baseline="0" dirty="0">
              <a:solidFill>
                <a:srgbClr val="C55A11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0" i="0" u="none" strike="noStrike" kern="1200" cap="none" spc="0" baseline="0" dirty="0">
                <a:solidFill>
                  <a:schemeClr val="accent4">
                    <a:lumMod val="75000"/>
                  </a:schemeClr>
                </a:solidFill>
                <a:uFillTx/>
                <a:latin typeface="Calibri"/>
              </a:rPr>
              <a:t>Certificate</a:t>
            </a:r>
            <a:r>
              <a:rPr lang="en-US" sz="3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for both humans and LLMs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2636-091B-E87E-41A0-26A70649C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71850" y="962021"/>
            <a:ext cx="5448306" cy="749615"/>
          </a:xfrm>
        </p:spPr>
        <p:txBody>
          <a:bodyPr/>
          <a:lstStyle/>
          <a:p>
            <a:pPr lvl="0"/>
            <a:r>
              <a:rPr lang="en-US" b="1"/>
              <a:t>What was formalized?</a:t>
            </a:r>
            <a:endParaRPr lang="en-DE" b="1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310A57E0-AA5D-7D01-42B8-E197AC636517}"/>
              </a:ext>
            </a:extLst>
          </p:cNvPr>
          <p:cNvSpPr txBox="1"/>
          <p:nvPr/>
        </p:nvSpPr>
        <p:spPr>
          <a:xfrm>
            <a:off x="1995485" y="2143125"/>
            <a:ext cx="8448671" cy="40318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somorphisms for tensor products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Restricted tensor products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Basic construction of ordered spaces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C00000"/>
                </a:solidFill>
                <a:uFillTx/>
                <a:latin typeface="Calibri"/>
              </a:rPr>
              <a:t>TBD: De </a:t>
            </a:r>
            <a:r>
              <a:rPr lang="en-US" sz="3200" b="0" i="0" u="none" strike="noStrike" kern="1200" cap="none" spc="0" baseline="0" dirty="0" err="1">
                <a:solidFill>
                  <a:srgbClr val="C00000"/>
                </a:solidFill>
                <a:uFillTx/>
                <a:latin typeface="Calibri"/>
              </a:rPr>
              <a:t>Finetti’s</a:t>
            </a:r>
            <a:r>
              <a:rPr lang="en-US" sz="3200" b="0" i="0" u="none" strike="noStrike" kern="1200" cap="none" spc="0" baseline="0" dirty="0">
                <a:solidFill>
                  <a:srgbClr val="C00000"/>
                </a:solidFill>
                <a:uFillTx/>
                <a:latin typeface="Calibri"/>
              </a:rPr>
              <a:t> theorem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E" sz="3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9C37-30CD-7CBC-9AEB-299CBBD4A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96078" y="2419346"/>
            <a:ext cx="4248146" cy="1343025"/>
          </a:xfrm>
        </p:spPr>
        <p:txBody>
          <a:bodyPr/>
          <a:lstStyle/>
          <a:p>
            <a:pPr lvl="0"/>
            <a:r>
              <a:rPr lang="en-US" b="1" cap="none"/>
              <a:t>PiTensorProduct Isomorphisms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7DC0-2037-725F-2A30-F2BB03F30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5785" y="630716"/>
            <a:ext cx="6812042" cy="617887"/>
          </a:xfrm>
        </p:spPr>
        <p:txBody>
          <a:bodyPr/>
          <a:lstStyle/>
          <a:p>
            <a:pPr lvl="0"/>
            <a:r>
              <a:rPr lang="en-US" b="1"/>
              <a:t>What is a pitensorproduct?</a:t>
            </a:r>
            <a:endParaRPr lang="en-DE" b="1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21579-CFAE-0C77-EB5E-B26A346EFD2A}"/>
              </a:ext>
            </a:extLst>
          </p:cNvPr>
          <p:cNvSpPr txBox="1"/>
          <p:nvPr/>
        </p:nvSpPr>
        <p:spPr>
          <a:xfrm>
            <a:off x="1571926" y="1544439"/>
            <a:ext cx="8579769" cy="39703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Its representatives are </a:t>
            </a:r>
            <a:r>
              <a:rPr lang="en-US" sz="2800" b="0" i="0" u="none" strike="noStrike" kern="1200" cap="none" spc="0" baseline="0" dirty="0">
                <a:solidFill>
                  <a:srgbClr val="00B050"/>
                </a:solidFill>
                <a:uFillTx/>
                <a:latin typeface="Calibri"/>
              </a:rPr>
              <a:t>List</a:t>
            </a: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s*, with addition being </a:t>
            </a:r>
            <a:r>
              <a:rPr lang="en-US" sz="2800" b="0" i="0" u="none" strike="noStrike" kern="1200" cap="none" spc="0" baseline="0" dirty="0">
                <a:uFillTx/>
                <a:latin typeface="Calibri"/>
              </a:rPr>
              <a:t>concatenation</a:t>
            </a: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as </a:t>
            </a:r>
            <a:r>
              <a:rPr lang="en-US" sz="2800" b="0" i="0" u="none" strike="noStrike" kern="1200" cap="none" spc="0" baseline="0" dirty="0">
                <a:solidFill>
                  <a:srgbClr val="FF0000"/>
                </a:solidFill>
                <a:uFillTx/>
                <a:latin typeface="Calibri"/>
              </a:rPr>
              <a:t>[a] + [b] = [a, b]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Tensor properties are enforced by </a:t>
            </a:r>
            <a:r>
              <a:rPr lang="en-US" sz="2800" b="0" i="0" u="none" strike="noStrike" kern="1200" cap="none" spc="0" baseline="0" dirty="0">
                <a:solidFill>
                  <a:srgbClr val="843C0C"/>
                </a:solidFill>
                <a:uFillTx/>
                <a:latin typeface="Calibri"/>
              </a:rPr>
              <a:t>Quotienting</a:t>
            </a: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reps w.r.t appropriate </a:t>
            </a:r>
            <a:r>
              <a:rPr lang="en-US" sz="2800" b="0" i="0" u="none" strike="noStrike" kern="1200" cap="none" spc="0" baseline="0" dirty="0">
                <a:solidFill>
                  <a:srgbClr val="BF9000"/>
                </a:solidFill>
                <a:uFillTx/>
                <a:latin typeface="Calibri"/>
              </a:rPr>
              <a:t>equivalence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 err="1">
                <a:solidFill>
                  <a:srgbClr val="C00000"/>
                </a:solidFill>
                <a:uFillTx/>
                <a:latin typeface="Calibri"/>
              </a:rPr>
              <a:t>Multilinearmaps</a:t>
            </a: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on the underlying families of representatives are compatible with the </a:t>
            </a:r>
            <a:r>
              <a:rPr lang="en-US" sz="2800" b="0" i="0" u="none" strike="noStrike" kern="1200" cap="none" spc="0" baseline="0" dirty="0">
                <a:solidFill>
                  <a:srgbClr val="BF9000"/>
                </a:solidFill>
                <a:uFillTx/>
                <a:latin typeface="Calibri"/>
              </a:rPr>
              <a:t>equivalence, </a:t>
            </a: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so they can be </a:t>
            </a:r>
            <a:r>
              <a:rPr lang="en-US" sz="2800" b="0" i="0" u="none" strike="noStrike" kern="1200" cap="none" spc="0" baseline="0" dirty="0">
                <a:solidFill>
                  <a:srgbClr val="7030A0"/>
                </a:solidFill>
                <a:uFillTx/>
                <a:latin typeface="Calibri"/>
              </a:rPr>
              <a:t>lifted (universal property).</a:t>
            </a:r>
            <a:endParaRPr lang="en-DE" sz="2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BC523A9C-F337-0A7E-B62A-AB7219A0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7295"/>
            <a:ext cx="12191996" cy="165962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5A27F02-6C46-4362-D522-BEA7E7E2A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3788"/>
            <a:ext cx="12191996" cy="15795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FB72CC9D-6C94-A82B-CD7D-5299C82D4CC3}"/>
              </a:ext>
            </a:extLst>
          </p:cNvPr>
          <p:cNvSpPr txBox="1"/>
          <p:nvPr/>
        </p:nvSpPr>
        <p:spPr>
          <a:xfrm>
            <a:off x="2783543" y="672349"/>
            <a:ext cx="6624919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PiTensorProduct Isomorphisms</a:t>
            </a:r>
            <a:endParaRPr lang="en-DE" sz="3600" b="1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6C3A-6CEB-329A-B76C-DE749FEB88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6355" y="1676396"/>
            <a:ext cx="5997385" cy="1354244"/>
          </a:xfrm>
        </p:spPr>
        <p:txBody>
          <a:bodyPr/>
          <a:lstStyle/>
          <a:p>
            <a:pPr lvl="0"/>
            <a:r>
              <a:rPr lang="en-US" dirty="0"/>
              <a:t>Restricted tensors</a:t>
            </a:r>
            <a:endParaRPr lang="en-DE" dirty="0"/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92739-AC21-6C30-0F78-8D5A00E053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4485" y="391189"/>
            <a:ext cx="1343025" cy="625787"/>
          </a:xfrm>
        </p:spPr>
        <p:txBody>
          <a:bodyPr/>
          <a:lstStyle/>
          <a:p>
            <a:pPr lvl="0"/>
            <a:r>
              <a:rPr lang="en-US" b="1" dirty="0"/>
              <a:t>Why?</a:t>
            </a:r>
            <a:endParaRPr lang="en-DE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6">
                <a:extLst>
                  <a:ext uri="{FF2B5EF4-FFF2-40B4-BE49-F238E27FC236}">
                    <a16:creationId xmlns:a16="http://schemas.microsoft.com/office/drawing/2014/main" id="{40EF2D27-85D8-EE9A-4411-D452D7864E6E}"/>
                  </a:ext>
                </a:extLst>
              </p:cNvPr>
              <p:cNvSpPr txBox="1"/>
              <p:nvPr/>
            </p:nvSpPr>
            <p:spPr>
              <a:xfrm>
                <a:off x="2333621" y="1287131"/>
                <a:ext cx="8039103" cy="4283737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285750" marR="0" lvl="0" indent="-28575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Wingdings" pitchFamily="2"/>
                  <a:buChar char="Ø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</a:endParaRPr>
              </a:p>
              <a:p>
                <a:pPr marL="285750" marR="0" lvl="0" indent="-28575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Wingdings" pitchFamily="2"/>
                  <a:buChar char="Ø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  Used in </a:t>
                </a:r>
                <a:r>
                  <a:rPr lang="en-US" sz="2800" b="0" i="0" u="none" strike="noStrike" kern="1200" cap="none" spc="0" baseline="0" dirty="0">
                    <a:solidFill>
                      <a:schemeClr val="accent6">
                        <a:lumMod val="50000"/>
                      </a:schemeClr>
                    </a:solidFill>
                    <a:uFillTx/>
                    <a:latin typeface="Calibri"/>
                  </a:rPr>
                  <a:t>thermodynamics</a:t>
                </a:r>
              </a:p>
              <a:p>
                <a:pPr marL="285750" marR="0" lvl="0" indent="-28575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Wingdings" pitchFamily="2"/>
                  <a:buChar char="Ø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2800" dirty="0">
                  <a:solidFill>
                    <a:schemeClr val="accent6">
                      <a:lumMod val="50000"/>
                    </a:schemeClr>
                  </a:solidFill>
                  <a:latin typeface="Calibri"/>
                </a:endParaRPr>
              </a:p>
              <a:p>
                <a:pPr marL="285750" marR="0" lvl="0" indent="-28575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Wingdings" pitchFamily="2"/>
                  <a:buChar char="Ø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800" b="0" i="0" u="none" strike="noStrike" kern="1200" cap="none" spc="0" baseline="0" dirty="0">
                    <a:uFillTx/>
                    <a:latin typeface="Calibri"/>
                  </a:rPr>
                  <a:t> </a:t>
                </a:r>
                <a:r>
                  <a:rPr lang="en-US" sz="2800" dirty="0">
                    <a:latin typeface="Calibri"/>
                  </a:rPr>
                  <a:t>Probing small part of larger system</a:t>
                </a:r>
                <a:endParaRPr lang="en-US" sz="2800" b="0" i="0" u="none" strike="noStrike" kern="1200" cap="none" spc="0" baseline="0" dirty="0">
                  <a:uFillTx/>
                  <a:latin typeface="Calibri"/>
                </a:endParaRPr>
              </a:p>
              <a:p>
                <a:pPr marR="0" lvl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2800" b="0" i="0" u="none" strike="noStrike" kern="1200" cap="none" spc="0" baseline="0" dirty="0">
                  <a:solidFill>
                    <a:srgbClr val="0070C0"/>
                  </a:solidFill>
                  <a:uFillTx/>
                  <a:latin typeface="Calibri"/>
                </a:endParaRPr>
              </a:p>
              <a:p>
                <a:pPr marL="285750" marR="0" lvl="0" indent="-28575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Wingdings" pitchFamily="2"/>
                  <a:buChar char="Ø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  Solves issues like</a:t>
                </a:r>
              </a:p>
              <a:p>
                <a:pPr lvl="0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DE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sz="2800"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D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DE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D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DE" sz="28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DE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D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DE" sz="28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DE" sz="28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DE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DE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DE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</a:endParaRPr>
              </a:p>
              <a:p>
                <a:pPr marR="0" lvl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2800" b="0" i="0" u="none" strike="noStrike" kern="1200" cap="none" spc="0" baseline="0" dirty="0">
                  <a:solidFill>
                    <a:srgbClr val="0070C0"/>
                  </a:solidFill>
                  <a:uFillTx/>
                  <a:latin typeface="Calibri"/>
                </a:endParaRPr>
              </a:p>
            </p:txBody>
          </p:sp>
        </mc:Choice>
        <mc:Fallback>
          <p:sp>
            <p:nvSpPr>
              <p:cNvPr id="3" name="TextBox 6">
                <a:extLst>
                  <a:ext uri="{FF2B5EF4-FFF2-40B4-BE49-F238E27FC236}">
                    <a16:creationId xmlns:a16="http://schemas.microsoft.com/office/drawing/2014/main" id="{40EF2D27-85D8-EE9A-4411-D452D7864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621" y="1287131"/>
                <a:ext cx="8039103" cy="4283737"/>
              </a:xfrm>
              <a:prstGeom prst="rect">
                <a:avLst/>
              </a:prstGeom>
              <a:blipFill>
                <a:blip r:embed="rId2"/>
                <a:stretch>
                  <a:fillRect l="-1365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AAC6-757F-5CCC-D44D-D3767E89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419100"/>
            <a:ext cx="5655198" cy="1134907"/>
          </a:xfrm>
        </p:spPr>
        <p:txBody>
          <a:bodyPr/>
          <a:lstStyle/>
          <a:p>
            <a:r>
              <a:rPr lang="en-US" b="1" dirty="0"/>
              <a:t>Padding</a:t>
            </a:r>
            <a:endParaRPr lang="en-DE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4CECE3-9616-6AAD-423F-F22D91CB9B23}"/>
                  </a:ext>
                </a:extLst>
              </p:cNvPr>
              <p:cNvSpPr txBox="1"/>
              <p:nvPr/>
            </p:nvSpPr>
            <p:spPr>
              <a:xfrm>
                <a:off x="838203" y="2286000"/>
                <a:ext cx="10610847" cy="2747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Given a family of </a:t>
                </a:r>
                <a:r>
                  <a:rPr lang="en-US" sz="2800" dirty="0">
                    <a:solidFill>
                      <a:srgbClr val="7030A0"/>
                    </a:solidFill>
                  </a:rPr>
                  <a:t>distinguished elements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(e.g. the identity element in C* algebra) one can define</a:t>
                </a:r>
                <a:br>
                  <a:rPr lang="en-US" sz="2800" dirty="0"/>
                </a:b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𝐼𝐽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𝑡𝑚𝑢𝑙𝑈𝑛𝑖𝑓𝑦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⊗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\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𝑓𝑖𝑛𝑖𝑡𝑒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𝑆𝑒𝑡𝑠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/>
                <a:endParaRPr lang="en-US" sz="2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⊗….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4CECE3-9616-6AAD-423F-F22D91CB9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3" y="2286000"/>
                <a:ext cx="10610847" cy="2747162"/>
              </a:xfrm>
              <a:prstGeom prst="rect">
                <a:avLst/>
              </a:prstGeom>
              <a:blipFill>
                <a:blip r:embed="rId2"/>
                <a:stretch>
                  <a:fillRect l="-1207" t="-19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A71F0C6-D63D-FD33-B2B0-12130A35A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493" y="5497538"/>
            <a:ext cx="12277493" cy="151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3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A30D-B91E-6AE8-63CD-87138F972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738" y="464298"/>
            <a:ext cx="3438524" cy="488326"/>
          </a:xfrm>
        </p:spPr>
        <p:txBody>
          <a:bodyPr>
            <a:normAutofit fontScale="90000"/>
          </a:bodyPr>
          <a:lstStyle/>
          <a:p>
            <a:pPr lvl="0"/>
            <a:r>
              <a:rPr lang="en-US" sz="2800" b="1" dirty="0"/>
              <a:t>General Recipe</a:t>
            </a:r>
            <a:endParaRPr lang="en-DE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4F2BD8-6912-7307-B22A-AB938D57F97C}"/>
                  </a:ext>
                </a:extLst>
              </p:cNvPr>
              <p:cNvSpPr txBox="1"/>
              <p:nvPr/>
            </p:nvSpPr>
            <p:spPr>
              <a:xfrm>
                <a:off x="914400" y="1266828"/>
                <a:ext cx="10763246" cy="5301772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342900" marR="0" lvl="0" indent="-34290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Calibri Light"/>
                  <a:buAutoNum type="arabicPeriod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A </a:t>
                </a:r>
                <a:r>
                  <a:rPr lang="en-US" sz="2800" b="0" i="0" u="none" strike="noStrike" kern="1200" cap="none" spc="0" baseline="0" dirty="0">
                    <a:solidFill>
                      <a:schemeClr val="accent6">
                        <a:lumMod val="75000"/>
                      </a:schemeClr>
                    </a:solidFill>
                    <a:uFillTx/>
                    <a:latin typeface="Calibri"/>
                  </a:rPr>
                  <a:t>directed set </a:t>
                </a:r>
                <a14:m>
                  <m:oMath xmlns:m="http://schemas.openxmlformats.org/officeDocument/2006/math">
                    <m:r>
                      <a:rPr lang="en-DE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,  ∃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 ∧ 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u="none" strike="noStrike" kern="1200" cap="none" spc="0" baseline="0" dirty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b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</a:br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</a:endParaRPr>
              </a:p>
              <a:p>
                <a:pPr marL="342900" marR="0" lvl="0" indent="-34290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Calibri Light"/>
                  <a:buAutoNum type="arabicPeriod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A </a:t>
                </a:r>
                <a:r>
                  <a:rPr lang="en-US" sz="2800" b="0" i="0" u="none" strike="noStrike" kern="1200" cap="none" spc="0" baseline="0" dirty="0">
                    <a:solidFill>
                      <a:srgbClr val="FF0000"/>
                    </a:solidFill>
                    <a:uFillTx/>
                    <a:latin typeface="Calibri"/>
                  </a:rPr>
                  <a:t>directed system </a:t>
                </a:r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with 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𝐼𝐽</m:t>
                        </m:r>
                      </m:sub>
                    </m:sSub>
                    <m:r>
                      <a:rPr lang="en-DE" sz="2800" i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DE" sz="2800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DE" sz="2800" i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DE" sz="28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DE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DE" sz="2800" i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b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mbria Math" pitchFamily="18"/>
                  </a:rPr>
                </a:br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mbria Math" pitchFamily="18"/>
                  </a:rPr>
                  <a:t>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𝐼𝐼</m:t>
                        </m:r>
                      </m:sub>
                    </m:sSub>
                    <m:r>
                      <a:rPr lang="en-DE" sz="28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DE" sz="2800" i="0">
                        <a:latin typeface="Cambria Math" panose="02040503050406030204" pitchFamily="18" charset="0"/>
                      </a:rPr>
                      <m:t>Ι</m:t>
                    </m:r>
                  </m:oMath>
                </a14:m>
                <a:br>
                  <a:rPr lang="en-US" sz="280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DE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𝐽𝐾</m:t>
                        </m:r>
                      </m:sub>
                    </m:sSub>
                    <m:r>
                      <a:rPr lang="en-DE" sz="2800" i="0">
                        <a:latin typeface="Cambria Math" panose="02040503050406030204" pitchFamily="18" charset="0"/>
                      </a:rPr>
                      <m:t> ∘</m:t>
                    </m:r>
                    <m:sSub>
                      <m:sSubPr>
                        <m:ctrlPr>
                          <a:rPr lang="en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𝐼𝐽</m:t>
                        </m:r>
                      </m:sub>
                    </m:sSub>
                    <m:r>
                      <a:rPr lang="en-DE" sz="28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𝐼𝐾</m:t>
                        </m:r>
                      </m:sub>
                    </m:sSub>
                  </m:oMath>
                </a14:m>
                <a:b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</a:br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</a:endParaRPr>
              </a:p>
              <a:p>
                <a:pPr marL="342900" marR="0" lvl="0" indent="-34290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Calibri Light"/>
                  <a:buAutoNum type="arabicPeriod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An </a:t>
                </a:r>
                <a:r>
                  <a:rPr lang="en-US" sz="2800" b="0" i="0" u="none" strike="noStrike" kern="1200" cap="none" spc="0" baseline="0" dirty="0">
                    <a:solidFill>
                      <a:schemeClr val="accent5">
                        <a:lumMod val="75000"/>
                      </a:schemeClr>
                    </a:solidFill>
                    <a:uFillTx/>
                    <a:latin typeface="Calibri"/>
                  </a:rPr>
                  <a:t>Equivalence</a:t>
                </a:r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u="none" strike="noStrike" kern="1200" cap="none" spc="0" baseline="0" smtClean="0">
                        <a:solidFill>
                          <a:srgbClr val="000000"/>
                        </a:solidFill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8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:</a:t>
                </a:r>
              </a:p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</m:ctrlPr>
                        </m:sSubPr>
                        <m:e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𝐼</m:t>
                          </m:r>
                        </m:sub>
                      </m:sSub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∼</m:t>
                      </m:r>
                      <m:sSub>
                        <m:sSubPr>
                          <m:ctrlP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</m:ctrlPr>
                        </m:sSubPr>
                        <m:e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𝐼𝐽</m:t>
                          </m:r>
                        </m:sub>
                      </m:sSub>
                      <m:sSub>
                        <m:sSubPr>
                          <m:ctrlP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</m:ctrlPr>
                        </m:sSubPr>
                        <m:e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(</m:t>
                          </m:r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𝐼</m:t>
                          </m:r>
                        </m:sub>
                      </m:sSub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)</m:t>
                      </m:r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  </m:t>
                      </m:r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 </m:t>
                      </m:r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 </m:t>
                      </m:r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𝑤h𝑒𝑛</m:t>
                      </m:r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   </m:t>
                      </m:r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𝐼</m:t>
                      </m:r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≤</m:t>
                      </m:r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𝐽</m:t>
                      </m:r>
                    </m:oMath>
                  </m:oMathPara>
                </a14:m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  <a:ea typeface="Cambria Math" pitchFamily="18"/>
                </a:endParaRPr>
              </a:p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  <a:ea typeface="Cambria Math" pitchFamily="18"/>
                </a:endParaRPr>
              </a:p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800" dirty="0">
                    <a:solidFill>
                      <a:srgbClr val="000000"/>
                    </a:solidFill>
                    <a:latin typeface="Calibri"/>
                    <a:ea typeface="Cambria Math" pitchFamily="18"/>
                  </a:rPr>
                  <a:t>Finalize</a:t>
                </a:r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  <a:ea typeface="Cambria Math" pitchFamily="18"/>
                </a:endParaRPr>
              </a:p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800" b="0" i="0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lim</m:t>
                          </m:r>
                        </m:e>
                        <m:lim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→</m:t>
                          </m:r>
                        </m:lim>
                      </m:limLow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 </m:t>
                      </m:r>
                      <m:sSub>
                        <m:sSubPr>
                          <m:ctrlP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</m:ctrlPr>
                        </m:sSubPr>
                        <m:e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𝐼</m:t>
                          </m:r>
                        </m:sub>
                      </m:sSub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=⁡</m:t>
                      </m:r>
                      <m:nary>
                        <m:naryPr>
                          <m:chr m:val="∐"/>
                          <m:limLoc m:val="subSup"/>
                          <m:supHide m:val="on"/>
                          <m:ctrlP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800" b="0" i="1" u="none" strike="noStrike" kern="1200" cap="none" spc="0" baseline="0" smtClean="0">
                              <a:solidFill>
                                <a:srgbClr val="000000"/>
                              </a:solidFill>
                              <a:uFillTx/>
                              <a:latin typeface="Cambria Math" panose="02040503050406030204" pitchFamily="18" charset="0"/>
                              <a:ea typeface="Cambria Math" pitchFamily="18"/>
                            </a:rPr>
                            <m:t>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u="none" strike="noStrike" kern="1200" cap="none" spc="0" baseline="0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mbria Math" pitchFamily="18"/>
                                </a:rPr>
                              </m:ctrlPr>
                            </m:sSubPr>
                            <m:e>
                              <m:r>
                                <a:rPr lang="en-US" sz="2800" b="0" i="1" u="none" strike="noStrike" kern="1200" cap="none" spc="0" baseline="0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mbria Math" pitchFamily="18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u="none" strike="noStrike" kern="1200" cap="none" spc="0" baseline="0" smtClean="0">
                                  <a:solidFill>
                                    <a:srgbClr val="000000"/>
                                  </a:solidFill>
                                  <a:uFillTx/>
                                  <a:latin typeface="Cambria Math" panose="02040503050406030204" pitchFamily="18" charset="0"/>
                                  <a:ea typeface="Cambria Math" pitchFamily="18"/>
                                </a:rPr>
                                <m:t>𝐼</m:t>
                              </m:r>
                            </m:sub>
                          </m:sSub>
                        </m:e>
                      </m:nary>
                      <m:r>
                        <a:rPr lang="en-US" sz="2800" b="0" i="1" u="none" strike="noStrike" kern="1200" cap="none" spc="0" baseline="0" smtClean="0">
                          <a:solidFill>
                            <a:srgbClr val="000000"/>
                          </a:solidFill>
                          <a:uFillTx/>
                          <a:latin typeface="Cambria Math" panose="02040503050406030204" pitchFamily="18" charset="0"/>
                          <a:ea typeface="Cambria Math" pitchFamily="18"/>
                        </a:rPr>
                        <m:t>/ ∼</m:t>
                      </m:r>
                    </m:oMath>
                  </m:oMathPara>
                </a14:m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  <a:ea typeface="Cambria Math" pitchFamily="18"/>
                </a:endParaRPr>
              </a:p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2800" b="0" i="0" u="none" strike="noStrike" kern="1200" cap="none" spc="0" baseline="0" dirty="0">
                  <a:solidFill>
                    <a:srgbClr val="000000"/>
                  </a:solidFill>
                  <a:uFillTx/>
                  <a:latin typeface="Calibri"/>
                  <a:ea typeface="Cambria Math" pitchFamily="18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4F2BD8-6912-7307-B22A-AB938D57F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66828"/>
                <a:ext cx="10763246" cy="5301772"/>
              </a:xfrm>
              <a:prstGeom prst="rect">
                <a:avLst/>
              </a:prstGeom>
              <a:blipFill>
                <a:blip r:embed="rId2"/>
                <a:stretch>
                  <a:fillRect l="-1189" t="-1264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8E8F-433E-E310-A210-4F256C02E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1521" y="1581150"/>
            <a:ext cx="6115054" cy="612451"/>
          </a:xfrm>
        </p:spPr>
        <p:txBody>
          <a:bodyPr>
            <a:noAutofit/>
          </a:bodyPr>
          <a:lstStyle/>
          <a:p>
            <a:pPr lvl="0"/>
            <a:r>
              <a:rPr lang="en-US" sz="3600" dirty="0"/>
              <a:t>Ordered spaces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5835BCA-020D-B49B-0F7D-EF59A7405A65}"/>
              </a:ext>
            </a:extLst>
          </p:cNvPr>
          <p:cNvSpPr txBox="1"/>
          <p:nvPr/>
        </p:nvSpPr>
        <p:spPr>
          <a:xfrm>
            <a:off x="10373346" y="6356351"/>
            <a:ext cx="987552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1E51B73-7688-43C7-ADD9-D4949150E3D9}" type="slidenum">
              <a:t>12</a:t>
            </a:fld>
            <a:endParaRPr lang="en-US" sz="900" b="0" i="0" u="none" strike="noStrike" kern="1200" cap="none" spc="0" baseline="0">
              <a:solidFill>
                <a:srgbClr val="898989"/>
              </a:solidFill>
              <a:uFillTx/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2551911439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D7CDC9-9D65-8C2B-19D8-93379F6F2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901" y="285750"/>
            <a:ext cx="1447798" cy="1076325"/>
          </a:xfrm>
        </p:spPr>
        <p:txBody>
          <a:bodyPr>
            <a:normAutofit/>
          </a:bodyPr>
          <a:lstStyle/>
          <a:p>
            <a:r>
              <a:rPr lang="en-US" sz="2800" b="1" dirty="0"/>
              <a:t>Why?</a:t>
            </a:r>
            <a:endParaRPr lang="en-DE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D781B-CBB8-2645-9789-6F1CD6C32B3B}"/>
              </a:ext>
            </a:extLst>
          </p:cNvPr>
          <p:cNvSpPr txBox="1"/>
          <p:nvPr/>
        </p:nvSpPr>
        <p:spPr>
          <a:xfrm>
            <a:off x="2166937" y="1714500"/>
            <a:ext cx="78581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Arises in probabilistic theories due to the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positivity</a:t>
            </a:r>
            <a:r>
              <a:rPr lang="en-US" sz="2800" dirty="0"/>
              <a:t> and 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convexity</a:t>
            </a:r>
            <a:br>
              <a:rPr lang="en-US" sz="2800" dirty="0"/>
            </a:b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Making generalization of certain theories possible (e.g. elementary quantum mechanics)</a:t>
            </a:r>
            <a:br>
              <a:rPr lang="en-US" sz="2800" dirty="0"/>
            </a:b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Minimalistic in the assumptions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354351154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5F2A-7EF5-58BF-9CC5-4614AF63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484" y="397266"/>
            <a:ext cx="8096253" cy="6257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Order cones (Measurement devices)</a:t>
            </a:r>
            <a:endParaRPr lang="en-DE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5765E9-4FFA-FB7F-637B-0B88B69E0C60}"/>
                  </a:ext>
                </a:extLst>
              </p:cNvPr>
              <p:cNvSpPr txBox="1"/>
              <p:nvPr/>
            </p:nvSpPr>
            <p:spPr>
              <a:xfrm>
                <a:off x="2362199" y="1287810"/>
                <a:ext cx="8886825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Convex</a:t>
                </a:r>
                <a:b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solidFill>
                      <a:schemeClr val="accent1"/>
                    </a:solidFill>
                  </a:rPr>
                  <a:t>Cone</a:t>
                </a:r>
                <a:br>
                  <a:rPr lang="en-US" sz="2800" dirty="0">
                    <a:solidFill>
                      <a:schemeClr val="accent1"/>
                    </a:solidFill>
                  </a:rPr>
                </a:br>
                <a:endParaRPr lang="en-US" sz="2800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FF0000"/>
                    </a:solidFill>
                  </a:rPr>
                  <a:t>A distinguished element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800" dirty="0"/>
                  <a:t> in the algebraic interior</a:t>
                </a:r>
                <a:br>
                  <a:rPr lang="en-US" sz="2800" dirty="0"/>
                </a:br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𝑐𝑜𝑟𝑒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≔{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&gt;0∧∀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  <a:p>
                <a:pPr marL="342900" indent="-342900">
                  <a:buFont typeface="+mj-lt"/>
                  <a:buAutoNum type="arabicPeriod"/>
                </a:pPr>
                <a:endParaRPr lang="en-DE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5765E9-4FFA-FB7F-637B-0B88B69E0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99" y="1287810"/>
                <a:ext cx="8886825" cy="3539430"/>
              </a:xfrm>
              <a:prstGeom prst="rect">
                <a:avLst/>
              </a:prstGeom>
              <a:blipFill>
                <a:blip r:embed="rId2"/>
                <a:stretch>
                  <a:fillRect l="-1372" t="-172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6012680-3EAE-977A-A89A-92E3BBAA9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321" y="5356749"/>
            <a:ext cx="12324641" cy="157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30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0B33-8FA2-708F-8DD8-782FBBF83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8441" y="404394"/>
            <a:ext cx="6655117" cy="711594"/>
          </a:xfrm>
        </p:spPr>
        <p:txBody>
          <a:bodyPr/>
          <a:lstStyle/>
          <a:p>
            <a:r>
              <a:rPr lang="en-US" sz="2800" dirty="0"/>
              <a:t>Positive dual space (States)</a:t>
            </a:r>
            <a:endParaRPr lang="en-DE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17EB9E-63F4-176F-24E9-54991F133ABE}"/>
                  </a:ext>
                </a:extLst>
              </p:cNvPr>
              <p:cNvSpPr txBox="1"/>
              <p:nvPr/>
            </p:nvSpPr>
            <p:spPr>
              <a:xfrm>
                <a:off x="3181349" y="1447800"/>
                <a:ext cx="7705725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>
                  <a:solidFill>
                    <a:schemeClr val="bg1"/>
                  </a:solidFill>
                </a:endParaRPr>
              </a:p>
              <a:p>
                <a:r>
                  <a:rPr lang="en-US" sz="2800" dirty="0">
                    <a:solidFill>
                      <a:schemeClr val="bg1"/>
                    </a:solidFill>
                  </a:rPr>
                  <a:t>Set of dual vectors equipped with Weak* topology Defined as </a:t>
                </a:r>
              </a:p>
              <a:p>
                <a:endParaRPr lang="en-US" sz="28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=1∧∀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≥0}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  <a:p>
                <a:endParaRPr lang="en-US" sz="2800" dirty="0">
                  <a:solidFill>
                    <a:schemeClr val="bg1"/>
                  </a:solidFill>
                </a:endParaRPr>
              </a:p>
              <a:p>
                <a:r>
                  <a:rPr lang="en-US" sz="2800" dirty="0">
                    <a:solidFill>
                      <a:schemeClr val="bg1"/>
                    </a:solidFill>
                  </a:rPr>
                  <a:t>Compact, Convex, and assumed to be separating</a:t>
                </a:r>
              </a:p>
              <a:p>
                <a:endParaRPr lang="en-US" sz="2800" dirty="0">
                  <a:solidFill>
                    <a:schemeClr val="bg1"/>
                  </a:solidFill>
                </a:endParaRPr>
              </a:p>
              <a:p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17EB9E-63F4-176F-24E9-54991F133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349" y="1447800"/>
                <a:ext cx="7705725" cy="3970318"/>
              </a:xfrm>
              <a:prstGeom prst="rect">
                <a:avLst/>
              </a:prstGeom>
              <a:blipFill>
                <a:blip r:embed="rId2"/>
                <a:stretch>
                  <a:fillRect l="-166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236F7F4-38E5-5722-244F-269423088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87039"/>
            <a:ext cx="12192000" cy="97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5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9762B7-54D1-868A-6487-1EBBC2A51242}"/>
              </a:ext>
            </a:extLst>
          </p:cNvPr>
          <p:cNvSpPr txBox="1">
            <a:spLocks/>
          </p:cNvSpPr>
          <p:nvPr/>
        </p:nvSpPr>
        <p:spPr>
          <a:xfrm>
            <a:off x="2510790" y="337719"/>
            <a:ext cx="5065394" cy="71159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600" b="0" i="0" u="none" strike="noStrike" kern="1200" cap="all" spc="150" baseline="0">
                <a:solidFill>
                  <a:srgbClr val="FFFFFF"/>
                </a:solidFill>
                <a:uFillTx/>
                <a:latin typeface="Tenorite"/>
              </a:defRPr>
            </a:lvl1pPr>
          </a:lstStyle>
          <a:p>
            <a:r>
              <a:rPr lang="en-US" sz="2800" dirty="0"/>
              <a:t>maximal Minimal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2F5406-0908-915A-1F4F-5D9AAE461303}"/>
                  </a:ext>
                </a:extLst>
              </p:cNvPr>
              <p:cNvSpPr txBox="1"/>
              <p:nvPr/>
            </p:nvSpPr>
            <p:spPr>
              <a:xfrm>
                <a:off x="1038224" y="2025108"/>
                <a:ext cx="3381375" cy="1137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≔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DE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2F5406-0908-915A-1F4F-5D9AAE461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224" y="2025108"/>
                <a:ext cx="3381375" cy="1137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53B133-80DC-140D-7117-2881AC0B2EBD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20165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DE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53B133-80DC-140D-7117-2881AC0B2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2016578" cy="276999"/>
              </a:xfrm>
              <a:prstGeom prst="rect">
                <a:avLst/>
              </a:prstGeom>
              <a:blipFill>
                <a:blip r:embed="rId4"/>
                <a:stretch>
                  <a:fillRect l="-3323" r="-2719" b="-333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C13FE5-33A1-7512-85A7-87CF1F308CA7}"/>
                  </a:ext>
                </a:extLst>
              </p:cNvPr>
              <p:cNvSpPr txBox="1"/>
              <p:nvPr/>
            </p:nvSpPr>
            <p:spPr>
              <a:xfrm>
                <a:off x="190499" y="3586456"/>
                <a:ext cx="66770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𝐹𝑚𝑎𝑥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)≔{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|∀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≥0}</m:t>
                      </m:r>
                    </m:oMath>
                  </m:oMathPara>
                </a14:m>
                <a:endParaRPr lang="en-DE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C13FE5-33A1-7512-85A7-87CF1F30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99" y="3586456"/>
                <a:ext cx="66770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E7AC02-7288-5977-9AFE-40114DD0F4CC}"/>
                  </a:ext>
                </a:extLst>
              </p:cNvPr>
              <p:cNvSpPr txBox="1"/>
              <p:nvPr/>
            </p:nvSpPr>
            <p:spPr>
              <a:xfrm>
                <a:off x="5200650" y="2308262"/>
                <a:ext cx="6810375" cy="1137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𝐹𝑚𝑖𝑛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)≔{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DE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E7AC02-7288-5977-9AFE-40114DD0F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650" y="2308262"/>
                <a:ext cx="6810375" cy="11378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7601EF-EE8E-28A3-648B-8EDB4F43B149}"/>
                  </a:ext>
                </a:extLst>
              </p:cNvPr>
              <p:cNvSpPr txBox="1"/>
              <p:nvPr/>
            </p:nvSpPr>
            <p:spPr>
              <a:xfrm>
                <a:off x="2728911" y="4549738"/>
                <a:ext cx="62103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sSub>
                        <m:sSubPr>
                          <m:ctrlP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7601EF-EE8E-28A3-648B-8EDB4F43B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911" y="4549738"/>
                <a:ext cx="6210300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72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9721-6776-B6D5-C79C-86D4E65E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46" y="523874"/>
            <a:ext cx="8420096" cy="616265"/>
          </a:xfrm>
        </p:spPr>
        <p:txBody>
          <a:bodyPr/>
          <a:lstStyle/>
          <a:p>
            <a:r>
              <a:rPr lang="en-US" b="1" dirty="0"/>
              <a:t>Putting everything together (Again)</a:t>
            </a:r>
            <a:endParaRPr lang="en-D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A266B2-49E1-F56B-45BA-82EF2D891E96}"/>
                  </a:ext>
                </a:extLst>
              </p:cNvPr>
              <p:cNvSpPr txBox="1"/>
              <p:nvPr/>
            </p:nvSpPr>
            <p:spPr>
              <a:xfrm>
                <a:off x="2624136" y="1630665"/>
                <a:ext cx="6210300" cy="2811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≔</m:t>
                      </m:r>
                      <m:func>
                        <m:funcPr>
                          <m:ctrlP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3000" b="0" dirty="0">
                  <a:solidFill>
                    <a:schemeClr val="tx1"/>
                  </a:solidFill>
                </a:endParaRPr>
              </a:p>
              <a:p>
                <a:endParaRPr lang="en-US" sz="30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𝐹𝑚𝑎𝑥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  <a:p>
                <a:endParaRPr lang="en-DE" sz="3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  <m:r>
                        <a:rPr lang="en-US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𝐹𝑚𝑖𝑛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DE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A266B2-49E1-F56B-45BA-82EF2D891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136" y="1630665"/>
                <a:ext cx="6210300" cy="28111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39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B1298-E080-CDAB-3A28-EACADA4089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B46E0-4280-3D74-1000-9AAE9B87A7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To those who helped this project, and to those who took the time to attend this presentation</a:t>
            </a:r>
            <a:endParaRPr lang="en-DE" sz="2000" dirty="0"/>
          </a:p>
        </p:txBody>
      </p:sp>
    </p:spTree>
    <p:extLst>
      <p:ext uri="{BB962C8B-B14F-4D97-AF65-F5344CB8AC3E}">
        <p14:creationId xmlns:p14="http://schemas.microsoft.com/office/powerpoint/2010/main" val="3496066973"/>
      </p:ext>
    </p:extLst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02D7-E704-A130-A51B-25FA08784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781" y="583168"/>
            <a:ext cx="9850438" cy="653730"/>
          </a:xfrm>
        </p:spPr>
        <p:txBody>
          <a:bodyPr/>
          <a:lstStyle/>
          <a:p>
            <a:r>
              <a:rPr lang="en-US" b="1" dirty="0"/>
              <a:t>Application</a:t>
            </a:r>
            <a:endParaRPr lang="en-DE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C67D52-3638-4E9F-80C6-601205B228E1}"/>
                  </a:ext>
                </a:extLst>
              </p:cNvPr>
              <p:cNvSpPr txBox="1"/>
              <p:nvPr/>
            </p:nvSpPr>
            <p:spPr>
              <a:xfrm>
                <a:off x="1170781" y="1562100"/>
                <a:ext cx="93345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Given an order cone O,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   (Not operation)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Effect Space 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2800" dirty="0"/>
                  <a:t>   (Set of POVMs)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State Space: S(O)               (Physical states)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The pairing between elements of S(O) and E is</a:t>
                </a:r>
                <a:r>
                  <a:rPr lang="en-US" sz="2800" dirty="0">
                    <a:solidFill>
                      <a:srgbClr val="FF0000"/>
                    </a:solidFill>
                  </a:rPr>
                  <a:t> probability</a:t>
                </a:r>
                <a:r>
                  <a:rPr lang="en-US" sz="2800" dirty="0"/>
                  <a:t>!</a:t>
                </a:r>
                <a:endParaRPr lang="en-DE" sz="2800" dirty="0"/>
              </a:p>
              <a:p>
                <a:endParaRPr lang="en-DE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C67D52-3638-4E9F-80C6-601205B22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81" y="1562100"/>
                <a:ext cx="9334500" cy="4401205"/>
              </a:xfrm>
              <a:prstGeom prst="rect">
                <a:avLst/>
              </a:prstGeom>
              <a:blipFill>
                <a:blip r:embed="rId2"/>
                <a:stretch>
                  <a:fillRect l="-1306" t="-124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8232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6841</TotalTime>
  <Words>578</Words>
  <Application>Microsoft Office PowerPoint</Application>
  <PresentationFormat>Widescreen</PresentationFormat>
  <Paragraphs>101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Tenorite</vt:lpstr>
      <vt:lpstr>Wingdings</vt:lpstr>
      <vt:lpstr>Custom</vt:lpstr>
      <vt:lpstr>Foundations of math in Lean</vt:lpstr>
      <vt:lpstr>overview</vt:lpstr>
      <vt:lpstr>Why?</vt:lpstr>
      <vt:lpstr>What was formalized?</vt:lpstr>
      <vt:lpstr>PiTensorProduct Isomorphisms</vt:lpstr>
      <vt:lpstr>What is a pitensorproduct?</vt:lpstr>
      <vt:lpstr>PowerPoint Presentation</vt:lpstr>
      <vt:lpstr>Restricted tensors</vt:lpstr>
      <vt:lpstr>Why?</vt:lpstr>
      <vt:lpstr>Padding</vt:lpstr>
      <vt:lpstr>General Recipe</vt:lpstr>
      <vt:lpstr>Ordered spaces</vt:lpstr>
      <vt:lpstr>Why?</vt:lpstr>
      <vt:lpstr>Order cones (Measurement devices)</vt:lpstr>
      <vt:lpstr>Positive dual space (States)</vt:lpstr>
      <vt:lpstr>PowerPoint Presentation</vt:lpstr>
      <vt:lpstr>Putting everything together (Again)</vt:lpstr>
      <vt:lpstr>Thank you</vt:lpstr>
      <vt:lpstr>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math in Lean</dc:title>
  <dc:creator>Main</dc:creator>
  <cp:lastModifiedBy>professor</cp:lastModifiedBy>
  <cp:revision>133</cp:revision>
  <dcterms:created xsi:type="dcterms:W3CDTF">2025-11-08T11:19:40Z</dcterms:created>
  <dcterms:modified xsi:type="dcterms:W3CDTF">2026-01-10T14:44:19Z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